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76" r:id="rId4"/>
    <p:sldId id="272" r:id="rId5"/>
    <p:sldId id="273" r:id="rId6"/>
    <p:sldId id="274" r:id="rId7"/>
    <p:sldId id="275" r:id="rId8"/>
    <p:sldId id="277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52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781EA-8B25-480D-B364-33D5DAA3F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460378-26A8-4356-9EB1-E091B900A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3E8899-B6F9-472B-B0E7-5F7A3741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42EE3-906B-4EC4-B401-4BF262D5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D5B612-78EE-443E-B2B8-20B596E8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51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E9514-71C1-4091-81CB-8BCB51B3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B196E-0A34-46EE-B52D-A054CEBB5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DDBBDB-6DB1-4F5C-B39A-BD84CD25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DE5326-A782-4989-909C-73C797B38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A09FA6-3F0B-45B1-BFF6-BED50353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64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21161-1999-43A6-99D8-D3144C09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89EEB1-AA7E-467E-88E0-094B62988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967841-BC1A-4CFA-8E6F-CD668F8A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BCD816-4C5B-4195-8706-F61239B2B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4C42E2-8627-4E7D-9129-DB6CA50D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1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BA639-EFEB-48B9-8D1B-1B62BDDA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204F3-88D5-4C52-95D7-B2344145F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52C2EF-1B2F-4BE9-8E3F-70AC442B7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A8D18C-A625-445D-AA9F-53B18C01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0E5BD3-750E-43C1-8F21-06A01B8A2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49274E-40E2-4591-89EC-FF49F063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85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C8C58-51D9-473D-8841-F2B3CF06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D4CFB4-EABE-4D81-AE02-BD6504608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1E0FBF-9FB6-4A30-B12D-E12571432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702129-DCDF-4FDC-A239-24DE3EBBC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21B6B4-EFA5-4A18-977F-3C41A0CD1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26F01E-9675-452D-9B37-7E5A4067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818C3C-0591-42D4-8181-5F9F3383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469872-9D09-4D91-96DD-3CD0312C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94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381A5-75E3-41B0-8EF2-02C537FB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CD741C-9724-4C05-92F1-8B5648A7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3A6995-8C92-4143-9D66-CD5C2104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46D8276-6323-4AA6-9E2C-CF1DAFCE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41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22EB7F6-7110-41C1-94F2-B02E2063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303B1D-36D0-440B-80F5-2CC5FD84E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FC9072-B6BF-4D75-A420-56393BFE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48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CFA3E-3358-4834-BF77-0585CCD7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732D9D-F7C1-4644-891E-97D8F66C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9D4515-4DDA-4899-AF65-DDE85DE7C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8C47FE-2F93-41BF-BAF2-4A4ABBDEF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0192FD-A563-46B8-9E39-3D389569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6E574D-6F45-4FD6-91FE-1AAE5C27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9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B8188-6F50-481A-8490-1CBD811A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B876462-CFA1-487B-BE4D-4AC519A1F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5839C0-E1D4-465C-B9A0-77978C8BE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D0F3A0-1F5F-4371-8727-2F77FF5F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809D46-1E7F-42CF-945C-94BC10E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59E24F-3E42-432B-8F38-F2236CF83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580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FC49D-1669-479A-B9CC-7B0A24BCC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713866-F425-41AE-A097-728AFF157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9B2A58-6FF3-4357-88E9-AD1D5E9F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3835CB-01FB-437F-9F60-80EB6171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8360DB-349D-4E18-903B-00FAE766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3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321878-D794-4871-B670-6D6F08B8A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770462-8833-45E1-A7E8-2DE112C1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DBAF52-E1F4-42E3-BD4B-FD8D5538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4A58AB-8A48-45FC-83F5-4C329C43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095E16-8E6E-430E-BFF4-C40DE898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55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00174-612B-4618-AF21-18BABDCD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67E804-F152-44E0-9938-18BEEFBEE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5278D5-4C83-4AD4-A374-E41E6FD74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A7811-AD34-41EE-8CC1-398635206704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D5BA7-9DEC-4936-9E8F-97ACA9F9A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8293DD-4476-4C67-AA41-3553E9A77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43B14-E0AF-4B87-8C57-6C0CAA337C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02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015254" y="-1064332"/>
            <a:ext cx="3706906" cy="370690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F9311-0176-4AFD-BB61-1F38E2FE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087" y="519861"/>
            <a:ext cx="9569824" cy="1698910"/>
          </a:xfrm>
        </p:spPr>
        <p:txBody>
          <a:bodyPr>
            <a:normAutofit/>
          </a:bodyPr>
          <a:lstStyle/>
          <a:p>
            <a:pPr algn="ctr"/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МИНИСТЕРСТВО НАУКИ И ВЫСШЕГО ОБРАЗОВАНИЯ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РОССИЙСКОЙ ФЕДЕРАЦИИ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«Казанский национальный исследовательский технологический университет» 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Казанский технологический колледж</a:t>
            </a:r>
            <a:b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1100" dirty="0">
                <a:latin typeface="Bicubik" panose="02000503020000020004" pitchFamily="50" charset="0"/>
                <a:cs typeface="Times New Roman" panose="02020603050405020304" pitchFamily="18" charset="0"/>
              </a:rPr>
              <a:t>(КТК ФГБОУ ВО «КНИТУ»)</a:t>
            </a:r>
            <a:br>
              <a:rPr lang="ru-RU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1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097A4A-8BEA-4B40-AEBB-FFB6ADD02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055979"/>
            <a:ext cx="10515600" cy="1443319"/>
          </a:xfrm>
        </p:spPr>
        <p:txBody>
          <a:bodyPr/>
          <a:lstStyle/>
          <a:p>
            <a:pPr marL="0" indent="0" algn="ctr">
              <a:buNone/>
            </a:pPr>
            <a:r>
              <a:rPr lang="ru-RU" sz="2800" b="1" cap="all" dirty="0">
                <a:latin typeface="Bicubik" panose="02000503020000020004" pitchFamily="50" charset="0"/>
                <a:cs typeface="Times New Roman" panose="02020603050405020304" pitchFamily="18" charset="0"/>
              </a:rPr>
              <a:t>Выпускная квалификационная </a:t>
            </a:r>
            <a: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  <a:t>РАБОТА </a:t>
            </a:r>
            <a:b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Bicubik" panose="02000503020000020004" pitchFamily="50" charset="0"/>
                <a:cs typeface="Times New Roman" panose="02020603050405020304" pitchFamily="18" charset="0"/>
              </a:rPr>
              <a:t> на тему «Тему полностью указать как в приказе»</a:t>
            </a:r>
            <a:endParaRPr lang="ru-RU" b="1" dirty="0">
              <a:latin typeface="Bicubik" panose="02000503020000020004" pitchFamily="50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BC74B55-30AE-4AD1-925D-DC6E0652171B}"/>
              </a:ext>
            </a:extLst>
          </p:cNvPr>
          <p:cNvSpPr txBox="1">
            <a:spLocks/>
          </p:cNvSpPr>
          <p:nvPr/>
        </p:nvSpPr>
        <p:spPr>
          <a:xfrm>
            <a:off x="9013953" y="4921803"/>
            <a:ext cx="2941172" cy="169891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endParaRPr lang="en-US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Выполнил</a:t>
            </a:r>
            <a:r>
              <a:rPr lang="en-US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:</a:t>
            </a:r>
            <a:endParaRPr lang="ru-RU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студент группы ****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Фамилия Имя Отчество</a:t>
            </a:r>
            <a:endParaRPr lang="en-US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Руководитель: 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1200" cap="none" dirty="0">
                <a:effectLst/>
                <a:latin typeface="Bicubik" panose="02000503020000020004" pitchFamily="50" charset="0"/>
                <a:cs typeface="Times New Roman" panose="02020603050405020304" pitchFamily="18" charset="0"/>
              </a:rPr>
              <a:t>Фамилия Имя Отчество</a:t>
            </a:r>
            <a:endParaRPr lang="en-US" sz="1200" cap="none" dirty="0">
              <a:effectLst/>
              <a:latin typeface="Bicubik" panose="02000503020000020004" pitchFamily="50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lang="ru-RU" sz="15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5487" y="80503"/>
            <a:ext cx="581025" cy="5905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8493039" y="2011681"/>
            <a:ext cx="3091768" cy="309176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305828" y="4417981"/>
            <a:ext cx="2941852" cy="294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048634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Обязательные слайды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Цели и задачи</a:t>
            </a:r>
            <a:r>
              <a:rPr lang="en-US" sz="1400" dirty="0">
                <a:latin typeface="Bicubik" panose="02000503020000020004" pitchFamily="50" charset="0"/>
              </a:rPr>
              <a:t>/</a:t>
            </a:r>
            <a:r>
              <a:rPr lang="ru-RU" sz="1400" dirty="0">
                <a:latin typeface="Bicubik" panose="02000503020000020004" pitchFamily="50" charset="0"/>
              </a:rPr>
              <a:t>проблематика проекта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Организационная структура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Диаграмма вариантов использования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Диаграмма деятельности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Диаграмма классов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Программные средства для разработки</a:t>
            </a:r>
          </a:p>
          <a:p>
            <a:r>
              <a:rPr lang="ru-RU" sz="1400" dirty="0">
                <a:latin typeface="Bicubik" panose="02000503020000020004" pitchFamily="50" charset="0"/>
              </a:rPr>
              <a:t>Структура </a:t>
            </a:r>
            <a:r>
              <a:rPr lang="ru-RU" sz="1400" dirty="0" err="1">
                <a:latin typeface="Bicubik" panose="02000503020000020004" pitchFamily="50" charset="0"/>
              </a:rPr>
              <a:t>бд</a:t>
            </a:r>
            <a:endParaRPr lang="ru-RU" sz="1400" dirty="0">
              <a:latin typeface="Bicubik" panose="02000503020000020004" pitchFamily="50" charset="0"/>
            </a:endParaRPr>
          </a:p>
          <a:p>
            <a:r>
              <a:rPr lang="ru-RU" sz="1400" dirty="0">
                <a:latin typeface="Bicubik" panose="02000503020000020004" pitchFamily="50" charset="0"/>
              </a:rPr>
              <a:t>Достоинства и перспективы развития</a:t>
            </a:r>
          </a:p>
          <a:p>
            <a:pPr marL="0" indent="0">
              <a:buNone/>
            </a:pPr>
            <a:r>
              <a:rPr lang="en-US" sz="1400" b="1" dirty="0">
                <a:latin typeface="Bicubik" panose="02000503020000020004" pitchFamily="50" charset="0"/>
              </a:rPr>
              <a:t>P.S. </a:t>
            </a:r>
            <a:r>
              <a:rPr lang="ru-RU" sz="1400" b="1" dirty="0">
                <a:latin typeface="Bicubik" panose="02000503020000020004" pitchFamily="50" charset="0"/>
              </a:rPr>
              <a:t>Данная презентация является шаблоном который можно использовать, но никто не запрещает сделать презентацию по собственному видению с учетом требования к слайдам</a:t>
            </a:r>
          </a:p>
          <a:p>
            <a:pPr marL="0" indent="0">
              <a:buNone/>
            </a:pPr>
            <a:endParaRPr lang="ru-RU" sz="1400" b="1" dirty="0">
              <a:latin typeface="Bicubik" panose="02000503020000020004" pitchFamily="50" charset="0"/>
            </a:endParaRPr>
          </a:p>
          <a:p>
            <a:pPr marL="0" indent="0">
              <a:buNone/>
            </a:pPr>
            <a:r>
              <a:rPr lang="en-US" sz="1400" b="1" dirty="0">
                <a:latin typeface="Bicubik" panose="02000503020000020004" pitchFamily="50" charset="0"/>
              </a:rPr>
              <a:t>P.S.S </a:t>
            </a:r>
            <a:r>
              <a:rPr lang="ru-RU" sz="1400" b="1" dirty="0">
                <a:latin typeface="Bicubik" panose="02000503020000020004" pitchFamily="50" charset="0"/>
              </a:rPr>
              <a:t> рекомендованным шрифтом к использованию является официальный шрифт «КНИТУ» </a:t>
            </a:r>
            <a:r>
              <a:rPr lang="en-US" sz="1400" b="1" dirty="0">
                <a:latin typeface="Bicubik" panose="02000503020000020004" pitchFamily="50" charset="0"/>
              </a:rPr>
              <a:t>BICUBIK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325538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254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Bicubik" panose="02000503020000020004" pitchFamily="50" charset="0"/>
              </a:rPr>
              <a:t>Цели и задачи</a:t>
            </a:r>
            <a:r>
              <a:rPr lang="en-US" b="1" dirty="0">
                <a:latin typeface="Bicubik" panose="02000503020000020004" pitchFamily="50" charset="0"/>
              </a:rPr>
              <a:t>/</a:t>
            </a:r>
            <a:r>
              <a:rPr lang="ru-RU" b="1" dirty="0">
                <a:latin typeface="Bicubik" panose="02000503020000020004" pitchFamily="50" charset="0"/>
              </a:rPr>
              <a:t>проблематика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29B20-7FCD-4D8E-971B-FECBA0663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3365"/>
            <a:ext cx="10515600" cy="380359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4867286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385022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Организационная структура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7A0E14-C88C-4EFF-8BC8-FC5B41D09E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6155" y="1464889"/>
            <a:ext cx="7499690" cy="40920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F615B5-FE5F-4BDD-91FA-628ED6CE85C2}"/>
              </a:ext>
            </a:extLst>
          </p:cNvPr>
          <p:cNvSpPr txBox="1"/>
          <p:nvPr/>
        </p:nvSpPr>
        <p:spPr>
          <a:xfrm>
            <a:off x="3481864" y="5812300"/>
            <a:ext cx="5469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1 – Организационная структура отдела</a:t>
            </a:r>
          </a:p>
        </p:txBody>
      </p:sp>
    </p:spTree>
    <p:extLst>
      <p:ext uri="{BB962C8B-B14F-4D97-AF65-F5344CB8AC3E}">
        <p14:creationId xmlns:p14="http://schemas.microsoft.com/office/powerpoint/2010/main" val="158873141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385022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Диаграмма вариантов использования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BB28DDE-BF3D-413E-B8CA-FC62362FFB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7456" y="1710585"/>
            <a:ext cx="5857088" cy="38363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0C0E2E-A23D-4B52-9777-D14436F0372B}"/>
              </a:ext>
            </a:extLst>
          </p:cNvPr>
          <p:cNvSpPr txBox="1"/>
          <p:nvPr/>
        </p:nvSpPr>
        <p:spPr>
          <a:xfrm>
            <a:off x="3352378" y="5904633"/>
            <a:ext cx="5487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2 – Диаграмма вариантов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3142754116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385022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Диаграмма деятельности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EA3CE7-D8F4-4816-96A5-BFDAEC6B0A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3250" y="1459131"/>
            <a:ext cx="5145499" cy="4103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CED4C2-F8C1-4459-88DC-9B58C327D3F9}"/>
              </a:ext>
            </a:extLst>
          </p:cNvPr>
          <p:cNvSpPr txBox="1"/>
          <p:nvPr/>
        </p:nvSpPr>
        <p:spPr>
          <a:xfrm>
            <a:off x="2815606" y="5826647"/>
            <a:ext cx="6560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3 – Диаграмма деятельности по функции «Указать функцию»</a:t>
            </a:r>
          </a:p>
        </p:txBody>
      </p:sp>
    </p:spTree>
    <p:extLst>
      <p:ext uri="{BB962C8B-B14F-4D97-AF65-F5344CB8AC3E}">
        <p14:creationId xmlns:p14="http://schemas.microsoft.com/office/powerpoint/2010/main" val="3764514613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385022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Диаграмма классов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2BF6BC-B464-4D56-BD6A-92638C40CE5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8387"/>
          <a:stretch/>
        </p:blipFill>
        <p:spPr>
          <a:xfrm>
            <a:off x="2777337" y="1710585"/>
            <a:ext cx="6637325" cy="3722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7BD16B-7203-483D-8665-334B149B3414}"/>
              </a:ext>
            </a:extLst>
          </p:cNvPr>
          <p:cNvSpPr txBox="1"/>
          <p:nvPr/>
        </p:nvSpPr>
        <p:spPr>
          <a:xfrm>
            <a:off x="4131329" y="6010461"/>
            <a:ext cx="392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4 – Диаграмма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1466893905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385022"/>
            <a:ext cx="115662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icubik" panose="02000503020000020004" pitchFamily="50" charset="0"/>
              </a:rPr>
              <a:t>Диаграмма классов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BD16B-7203-483D-8665-334B149B3414}"/>
              </a:ext>
            </a:extLst>
          </p:cNvPr>
          <p:cNvSpPr txBox="1"/>
          <p:nvPr/>
        </p:nvSpPr>
        <p:spPr>
          <a:xfrm>
            <a:off x="4131329" y="6010461"/>
            <a:ext cx="392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Рисунок 5 – структура </a:t>
            </a:r>
            <a:r>
              <a:rPr lang="ru-RU" sz="1400" dirty="0" err="1">
                <a:latin typeface="Bicubik" panose="02000503020000020004" pitchFamily="50" charset="0"/>
                <a:cs typeface="Times New Roman" panose="02020603050405020304" pitchFamily="18" charset="0"/>
              </a:rPr>
              <a:t>бд</a:t>
            </a:r>
            <a:r>
              <a:rPr lang="en-US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/er-</a:t>
            </a:r>
            <a:r>
              <a:rPr lang="ru-RU" sz="1400" dirty="0">
                <a:latin typeface="Bicubik" panose="02000503020000020004" pitchFamily="50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CBFDF70-95EE-4186-B08E-8852D95535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38218" y="1290240"/>
            <a:ext cx="7915563" cy="46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0880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Программные средства для разработки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sz="2400" dirty="0">
                <a:latin typeface="Bicubik" panose="02000503020000020004" pitchFamily="50" charset="0"/>
              </a:rPr>
              <a:t>C#</a:t>
            </a:r>
            <a:endParaRPr lang="ru-RU" sz="2400" dirty="0">
              <a:latin typeface="Bicubik" panose="02000503020000020004" pitchFamily="50" charset="0"/>
            </a:endParaRPr>
          </a:p>
          <a:p>
            <a:r>
              <a:rPr lang="en-US" sz="2400" dirty="0" err="1">
                <a:latin typeface="Bicubik" panose="02000503020000020004" pitchFamily="50" charset="0"/>
              </a:rPr>
              <a:t>MYsql</a:t>
            </a:r>
            <a:endParaRPr lang="ru-RU" sz="2400" dirty="0">
              <a:latin typeface="Bicubik" panose="02000503020000020004" pitchFamily="50" charset="0"/>
            </a:endParaRPr>
          </a:p>
          <a:p>
            <a:r>
              <a:rPr lang="en-US" sz="2400" dirty="0">
                <a:latin typeface="Bicubik" panose="02000503020000020004" pitchFamily="50" charset="0"/>
              </a:rPr>
              <a:t>VS CODE</a:t>
            </a:r>
            <a:endParaRPr lang="ru-RU" sz="2400" dirty="0">
              <a:latin typeface="Bicubik" panose="02000503020000020004" pitchFamily="50" charset="0"/>
            </a:endParaRPr>
          </a:p>
          <a:p>
            <a:r>
              <a:rPr lang="en-US" sz="2400" dirty="0">
                <a:latin typeface="Bicubik" panose="02000503020000020004" pitchFamily="50" charset="0"/>
              </a:rPr>
              <a:t>OS Panel</a:t>
            </a:r>
            <a:endParaRPr lang="ru-RU" sz="2400" dirty="0">
              <a:latin typeface="Bicubik" panose="02000503020000020004" pitchFamily="50" charset="0"/>
            </a:endParaRPr>
          </a:p>
          <a:p>
            <a:r>
              <a:rPr lang="en-US" sz="2400" dirty="0" err="1">
                <a:latin typeface="Bicubik" panose="02000503020000020004" pitchFamily="50" charset="0"/>
              </a:rPr>
              <a:t>nginx</a:t>
            </a:r>
            <a:endParaRPr lang="ru-RU" sz="2400" dirty="0">
              <a:latin typeface="Bicubik" panose="02000503020000020004" pitchFamily="50" charset="0"/>
            </a:endParaRPr>
          </a:p>
          <a:p>
            <a:r>
              <a:rPr lang="ru-RU" sz="1800" b="1" dirty="0">
                <a:latin typeface="Bicubik" panose="02000503020000020004" pitchFamily="50" charset="0"/>
              </a:rPr>
              <a:t>У каждого программного продукта, должно быть обоснование выбора на пару абзацев!</a:t>
            </a:r>
          </a:p>
        </p:txBody>
      </p:sp>
    </p:spTree>
    <p:extLst>
      <p:ext uri="{BB962C8B-B14F-4D97-AF65-F5344CB8AC3E}">
        <p14:creationId xmlns:p14="http://schemas.microsoft.com/office/powerpoint/2010/main" val="1268542230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254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ДОСТОИНСТВА И ПЕРСПЕКТИВЫ РАЗВИТИЯ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5025"/>
            <a:ext cx="10515600" cy="4351338"/>
          </a:xfrm>
        </p:spPr>
        <p:txBody>
          <a:bodyPr numCol="2" spcCol="720000"/>
          <a:lstStyle/>
          <a:p>
            <a:r>
              <a:rPr lang="ru-RU" sz="2000" b="1" dirty="0">
                <a:latin typeface="Bicubik" panose="02000503020000020004" pitchFamily="50" charset="0"/>
              </a:rPr>
              <a:t>Достоинства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Достоинство 1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Достоинство 2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Достоинство 3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Достоинство 4</a:t>
            </a: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r>
              <a:rPr lang="ru-RU" sz="2000" b="1" dirty="0">
                <a:latin typeface="Bicubik" panose="02000503020000020004" pitchFamily="50" charset="0"/>
              </a:rPr>
              <a:t>Перспективы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Перспектива 1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Перспектива 2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Перспектива 3</a:t>
            </a:r>
          </a:p>
          <a:p>
            <a:r>
              <a:rPr lang="ru-RU" sz="1400" dirty="0">
                <a:latin typeface="Bicubik" panose="02000503020000020004" pitchFamily="50" charset="0"/>
              </a:rPr>
              <a:t>Перспектива 4</a:t>
            </a:r>
          </a:p>
          <a:p>
            <a:endParaRPr lang="ru-RU" sz="2000" b="1" dirty="0">
              <a:latin typeface="Bicubik" panose="02000503020000020004" pitchFamily="50" charset="0"/>
            </a:endParaRPr>
          </a:p>
          <a:p>
            <a:endParaRPr lang="ru-RU" sz="2000" b="1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  <a:p>
            <a:endParaRPr lang="ru-RU" sz="1400" dirty="0">
              <a:latin typeface="Bicubik" panose="0200050302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694334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E756D5-F48F-4320-9A83-30EC0FF2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02251">
            <a:off x="-1308066" y="-1070779"/>
            <a:ext cx="2616133" cy="26161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DC4CE0-1E39-4F95-835E-1FBE5F343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7681" y="237287"/>
            <a:ext cx="797444" cy="81051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423F581-7307-4DF4-87D3-1667484E7A0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6875">
            <a:off x="10289712" y="3637756"/>
            <a:ext cx="2128176" cy="21281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539FDB4-9E44-4A6E-9F89-4A0802D1170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891">
            <a:off x="-611342" y="5930793"/>
            <a:ext cx="1854412" cy="1854412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E292885-0129-4E89-B556-5B99153E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latin typeface="Bicubik" panose="02000503020000020004" pitchFamily="50" charset="0"/>
              </a:rPr>
              <a:t>Пустой слайд для копирования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6FFEFF56-A3BF-4206-885C-116FD17F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05"/>
            <a:ext cx="10515600" cy="4351338"/>
          </a:xfrm>
        </p:spPr>
        <p:txBody>
          <a:bodyPr/>
          <a:lstStyle/>
          <a:p>
            <a:r>
              <a:rPr lang="ru-RU" sz="1400" dirty="0">
                <a:latin typeface="Bicubik" panose="02000503020000020004" pitchFamily="50" charset="0"/>
              </a:rPr>
              <a:t>.</a:t>
            </a:r>
            <a:endParaRPr lang="ru-RU" sz="1400" b="1" dirty="0">
              <a:latin typeface="Bicubik" panose="02000503020000020004" pitchFamily="50" charset="0"/>
            </a:endParaRPr>
          </a:p>
          <a:p>
            <a:endParaRPr lang="ru-RU" dirty="0">
              <a:latin typeface="Bicubik" panose="0200050302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407831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240</Words>
  <Application>Microsoft Office PowerPoint</Application>
  <PresentationFormat>Широкоэкранный</PresentationFormat>
  <Paragraphs>63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Bicubik</vt:lpstr>
      <vt:lpstr>Calibri</vt:lpstr>
      <vt:lpstr>Calibri Light</vt:lpstr>
      <vt:lpstr>Times New Roman</vt:lpstr>
      <vt:lpstr>Тема Office</vt:lpstr>
      <vt:lpstr>МИНИСТЕРСТВО НАУКИ И ВЫСШЕГО ОБРАЗОВАНИЯ  РОССИЙСКОЙ ФЕДЕРАЦИИ Федеральное государственное бюджетное образовательное учреждение  высшего образования «Казанский национальный исследовательский технологический университет»  Казанский технологический колледж (КТК ФГБОУ ВО «КНИТУ») </vt:lpstr>
      <vt:lpstr>Обязательные слайды</vt:lpstr>
      <vt:lpstr>Цели и задачи/проблематика проекта</vt:lpstr>
      <vt:lpstr>Организационная структура</vt:lpstr>
      <vt:lpstr>Диаграмма вариантов использования</vt:lpstr>
      <vt:lpstr>Диаграмма деятельности</vt:lpstr>
      <vt:lpstr>Диаграмма классов</vt:lpstr>
      <vt:lpstr>Диаграмма классов</vt:lpstr>
      <vt:lpstr>Программные средства для разработки</vt:lpstr>
      <vt:lpstr>ДОСТОИНСТВА И ПЕРСПЕКТИВЫ РАЗВИТИЯ</vt:lpstr>
      <vt:lpstr>Пустой слайд для копирования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 РОССИЙСКОЙ ФЕДЕРАЦИИ Федеральное государственное бюджетное образовательное учреждение  высшего образования «Казанский национальный исследовательский технологический университет»  Казанский технологический колледж (КТК ФГБОУ ВО «КНИТУ»)</dc:title>
  <dc:creator>Артур Габитов</dc:creator>
  <cp:lastModifiedBy>Артур Габитов</cp:lastModifiedBy>
  <cp:revision>5</cp:revision>
  <dcterms:created xsi:type="dcterms:W3CDTF">2025-05-03T17:05:12Z</dcterms:created>
  <dcterms:modified xsi:type="dcterms:W3CDTF">2025-05-03T17:49:23Z</dcterms:modified>
</cp:coreProperties>
</file>