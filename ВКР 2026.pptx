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2" r:id="rId1"/>
  </p:sldMasterIdLst>
  <p:notesMasterIdLst>
    <p:notesMasterId r:id="rId12"/>
  </p:notesMasterIdLst>
  <p:sldIdLst>
    <p:sldId id="256" r:id="rId2"/>
    <p:sldId id="258" r:id="rId3"/>
    <p:sldId id="262" r:id="rId4"/>
    <p:sldId id="261" r:id="rId5"/>
    <p:sldId id="257" r:id="rId6"/>
    <p:sldId id="259" r:id="rId7"/>
    <p:sldId id="265" r:id="rId8"/>
    <p:sldId id="268" r:id="rId9"/>
    <p:sldId id="269" r:id="rId10"/>
    <p:sldId id="263" r:id="rId11"/>
  </p:sldIdLst>
  <p:sldSz cx="18288000" cy="10287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DM Sans" panose="020B0604020202020204" charset="0"/>
      <p:regular r:id="rId17"/>
      <p:bold r:id="rId18"/>
      <p:italic r:id="rId19"/>
      <p:boldItalic r:id="rId20"/>
    </p:embeddedFont>
    <p:embeddedFont>
      <p:font typeface="DM Serif Display" panose="020B0604020202020204" charset="0"/>
      <p:regular r:id="rId21"/>
      <p: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54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301635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732856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10647600" y="4850700"/>
            <a:ext cx="6075300" cy="141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DM Sans"/>
              <a:buChar char="•"/>
              <a:defRPr sz="2400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81000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8100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–"/>
              <a:defRPr sz="2400"/>
            </a:lvl4pPr>
            <a:lvl5pPr marL="2286000" lvl="4" indent="-381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»"/>
              <a:defRPr sz="2400"/>
            </a:lvl5pPr>
            <a:lvl6pPr marL="2743200" lvl="5" indent="-381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6pPr>
            <a:lvl7pPr marL="3200400" lvl="6" indent="-381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7pPr>
            <a:lvl8pPr marL="3657600" lvl="7" indent="-381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8pPr>
            <a:lvl9pPr marL="4114800" lvl="8" indent="-381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2"/>
          </p:nvPr>
        </p:nvSpPr>
        <p:spPr>
          <a:xfrm>
            <a:off x="10647600" y="4057589"/>
            <a:ext cx="6104400" cy="544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>
              <a:spcBef>
                <a:spcPts val="64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pic>
        <p:nvPicPr>
          <p:cNvPr id="18" name="Google Shape;18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645564" y="-1371862"/>
            <a:ext cx="13291150" cy="1329115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2109100" y="3810000"/>
            <a:ext cx="7075800" cy="2653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One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>
            <a:spLocks noGrp="1"/>
          </p:cNvSpPr>
          <p:nvPr>
            <p:ph type="pic" idx="2"/>
          </p:nvPr>
        </p:nvSpPr>
        <p:spPr>
          <a:xfrm>
            <a:off x="9683750" y="2875"/>
            <a:ext cx="8613000" cy="10287000"/>
          </a:xfrm>
          <a:prstGeom prst="rect">
            <a:avLst/>
          </a:prstGeom>
          <a:noFill/>
          <a:ln>
            <a:noFill/>
          </a:ln>
        </p:spPr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1028700" y="2595375"/>
            <a:ext cx="7420500" cy="5467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DM Sans"/>
              <a:buChar char="•"/>
              <a:defRPr sz="2400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81000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8100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–"/>
              <a:defRPr sz="2400"/>
            </a:lvl4pPr>
            <a:lvl5pPr marL="2286000" lvl="4" indent="-381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»"/>
              <a:defRPr sz="2400"/>
            </a:lvl5pPr>
            <a:lvl6pPr marL="2743200" lvl="5" indent="-381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6pPr>
            <a:lvl7pPr marL="3200400" lvl="6" indent="-381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7pPr>
            <a:lvl8pPr marL="3657600" lvl="7" indent="-381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8pPr>
            <a:lvl9pPr marL="4114800" lvl="8" indent="-381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1005425" y="1164175"/>
            <a:ext cx="7420500" cy="1137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800"/>
              <a:buNone/>
              <a:defRPr sz="8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4" name="Google Shape;24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750187" y="-3750187"/>
            <a:ext cx="6706225" cy="670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Two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34875" y="7500613"/>
            <a:ext cx="6706225" cy="670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5"/>
          <p:cNvSpPr>
            <a:spLocks noGrp="1"/>
          </p:cNvSpPr>
          <p:nvPr>
            <p:ph type="pic" idx="2"/>
          </p:nvPr>
        </p:nvSpPr>
        <p:spPr>
          <a:xfrm>
            <a:off x="0" y="1137700"/>
            <a:ext cx="9125100" cy="3630600"/>
          </a:xfrm>
          <a:prstGeom prst="rect">
            <a:avLst/>
          </a:prstGeom>
          <a:noFill/>
          <a:ln>
            <a:noFill/>
          </a:ln>
        </p:spPr>
      </p:sp>
      <p:sp>
        <p:nvSpPr>
          <p:cNvPr id="28" name="Google Shape;28;p5"/>
          <p:cNvSpPr>
            <a:spLocks noGrp="1"/>
          </p:cNvSpPr>
          <p:nvPr>
            <p:ph type="pic" idx="3"/>
          </p:nvPr>
        </p:nvSpPr>
        <p:spPr>
          <a:xfrm>
            <a:off x="0" y="5636300"/>
            <a:ext cx="9125100" cy="3630600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9683725" y="2631350"/>
            <a:ext cx="8089800" cy="2068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DM Sans"/>
              <a:buChar char="•"/>
              <a:defRPr sz="2400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81000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8100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–"/>
              <a:defRPr sz="2400"/>
            </a:lvl4pPr>
            <a:lvl5pPr marL="2286000" lvl="4" indent="-381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»"/>
              <a:defRPr sz="2400"/>
            </a:lvl5pPr>
            <a:lvl6pPr marL="2743200" lvl="5" indent="-381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6pPr>
            <a:lvl7pPr marL="3200400" lvl="6" indent="-381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7pPr>
            <a:lvl8pPr marL="3657600" lvl="7" indent="-381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8pPr>
            <a:lvl9pPr marL="4114800" lvl="8" indent="-381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9658350" y="1200150"/>
            <a:ext cx="8089800" cy="1137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800"/>
              <a:buNone/>
              <a:defRPr sz="8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4"/>
          </p:nvPr>
        </p:nvSpPr>
        <p:spPr>
          <a:xfrm>
            <a:off x="9671038" y="7132800"/>
            <a:ext cx="8089800" cy="2068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DM Sans"/>
              <a:buChar char="•"/>
              <a:defRPr sz="2400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81000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8100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–"/>
              <a:defRPr sz="2400"/>
            </a:lvl4pPr>
            <a:lvl5pPr marL="2286000" lvl="4" indent="-381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»"/>
              <a:defRPr sz="2400"/>
            </a:lvl5pPr>
            <a:lvl6pPr marL="2743200" lvl="5" indent="-381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6pPr>
            <a:lvl7pPr marL="3200400" lvl="6" indent="-381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7pPr>
            <a:lvl8pPr marL="3657600" lvl="7" indent="-381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8pPr>
            <a:lvl9pPr marL="4114800" lvl="8" indent="-381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title" idx="5"/>
          </p:nvPr>
        </p:nvSpPr>
        <p:spPr>
          <a:xfrm>
            <a:off x="9645663" y="5701600"/>
            <a:ext cx="8089800" cy="1137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800"/>
              <a:buNone/>
              <a:defRPr sz="8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4400"/>
              <a:buFont typeface="DM Serif Display"/>
              <a:buNone/>
              <a:defRPr sz="4400" i="0" u="none" strike="noStrike" cap="non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None/>
              <a:defRPr sz="1800">
                <a:solidFill>
                  <a:srgbClr val="1F1F1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None/>
              <a:defRPr sz="1800">
                <a:solidFill>
                  <a:srgbClr val="1F1F1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None/>
              <a:defRPr sz="1800">
                <a:solidFill>
                  <a:srgbClr val="1F1F1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None/>
              <a:defRPr sz="1800">
                <a:solidFill>
                  <a:srgbClr val="1F1F1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None/>
              <a:defRPr sz="1800">
                <a:solidFill>
                  <a:srgbClr val="1F1F1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None/>
              <a:defRPr sz="1800">
                <a:solidFill>
                  <a:srgbClr val="1F1F1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None/>
              <a:defRPr sz="1800">
                <a:solidFill>
                  <a:srgbClr val="1F1F1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None/>
              <a:defRPr sz="1800">
                <a:solidFill>
                  <a:srgbClr val="1F1F1F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rgbClr val="1F1F1F"/>
              </a:buClr>
              <a:buSzPts val="3200"/>
              <a:buFont typeface="DM Serif Display"/>
              <a:buChar char="•"/>
              <a:defRPr sz="3200" i="0" u="none" strike="noStrike" cap="non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rgbClr val="1F1F1F"/>
              </a:buClr>
              <a:buSzPts val="2800"/>
              <a:buFont typeface="DM Sans"/>
              <a:buChar char="–"/>
              <a:defRPr sz="2800" i="0" u="none" strike="noStrike" cap="non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rgbClr val="1F1F1F"/>
              </a:buClr>
              <a:buSzPts val="2400"/>
              <a:buFont typeface="DM Sans"/>
              <a:buChar char="•"/>
              <a:defRPr sz="2400" i="0" u="none" strike="noStrike" cap="non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1F1F1F"/>
              </a:buClr>
              <a:buSzPts val="2000"/>
              <a:buFont typeface="DM Sans"/>
              <a:buChar char="–"/>
              <a:defRPr sz="2000" i="0" u="none" strike="noStrike" cap="non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1F1F1F"/>
              </a:buClr>
              <a:buSzPts val="2000"/>
              <a:buFont typeface="DM Sans"/>
              <a:buChar char="»"/>
              <a:defRPr sz="2000" i="0" u="none" strike="noStrike" cap="non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1F1F1F"/>
              </a:buClr>
              <a:buSzPts val="2000"/>
              <a:buFont typeface="DM Sans"/>
              <a:buChar char="•"/>
              <a:defRPr sz="2000" i="0" u="none" strike="noStrike" cap="non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1F1F1F"/>
              </a:buClr>
              <a:buSzPts val="2000"/>
              <a:buFont typeface="DM Sans"/>
              <a:buChar char="•"/>
              <a:defRPr sz="2000" i="0" u="none" strike="noStrike" cap="non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1F1F1F"/>
              </a:buClr>
              <a:buSzPts val="2000"/>
              <a:buFont typeface="DM Sans"/>
              <a:buChar char="•"/>
              <a:defRPr sz="2000" i="0" u="none" strike="noStrike" cap="non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1F1F1F"/>
              </a:buClr>
              <a:buSzPts val="2000"/>
              <a:buFont typeface="DM Sans"/>
              <a:buChar char="•"/>
              <a:defRPr sz="2000" i="0" u="none" strike="noStrike" cap="non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82425" y="1844725"/>
            <a:ext cx="6857976" cy="6857976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 txBox="1"/>
          <p:nvPr/>
        </p:nvSpPr>
        <p:spPr>
          <a:xfrm>
            <a:off x="3392163" y="3969074"/>
            <a:ext cx="11503800" cy="24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0" b="0" i="0" u="none" strike="noStrike" cap="none" dirty="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ВКР 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37812" y="6536839"/>
            <a:ext cx="7500351" cy="7500351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8"/>
          <p:cNvSpPr txBox="1"/>
          <p:nvPr/>
        </p:nvSpPr>
        <p:spPr>
          <a:xfrm>
            <a:off x="1028700" y="1200150"/>
            <a:ext cx="16230600" cy="108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799" dirty="0">
                <a:solidFill>
                  <a:srgbClr val="1F1F1F"/>
                </a:solidFill>
                <a:latin typeface="DM Serif Display"/>
                <a:sym typeface="DM Serif Display"/>
              </a:rPr>
              <a:t>3 составляющие ВКР</a:t>
            </a:r>
            <a:endParaRPr dirty="0"/>
          </a:p>
        </p:txBody>
      </p:sp>
      <p:sp>
        <p:nvSpPr>
          <p:cNvPr id="58" name="Google Shape;58;p8"/>
          <p:cNvSpPr txBox="1"/>
          <p:nvPr/>
        </p:nvSpPr>
        <p:spPr>
          <a:xfrm>
            <a:off x="1619421" y="3832818"/>
            <a:ext cx="4983084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800" b="0" i="0" u="none" strike="noStrike" cap="none" dirty="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Разработанная информационная система</a:t>
            </a:r>
            <a:endParaRPr sz="2400" dirty="0"/>
          </a:p>
        </p:txBody>
      </p:sp>
      <p:sp>
        <p:nvSpPr>
          <p:cNvPr id="61" name="Google Shape;61;p8"/>
          <p:cNvSpPr txBox="1"/>
          <p:nvPr/>
        </p:nvSpPr>
        <p:spPr>
          <a:xfrm>
            <a:off x="7478183" y="5656156"/>
            <a:ext cx="4530041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800" b="0" i="0" u="none" strike="noStrike" cap="none" dirty="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Пояснительная записка</a:t>
            </a:r>
            <a:endParaRPr sz="2400" dirty="0"/>
          </a:p>
        </p:txBody>
      </p:sp>
      <p:sp>
        <p:nvSpPr>
          <p:cNvPr id="64" name="Google Shape;64;p8"/>
          <p:cNvSpPr txBox="1"/>
          <p:nvPr/>
        </p:nvSpPr>
        <p:spPr>
          <a:xfrm>
            <a:off x="12995325" y="6887263"/>
            <a:ext cx="42639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400" b="0" i="0" u="none" strike="noStrike" cap="none" dirty="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Презентация</a:t>
            </a:r>
            <a:endParaRPr sz="28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750187" y="-3750187"/>
            <a:ext cx="6706225" cy="670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2"/>
          <p:cNvSpPr txBox="1"/>
          <p:nvPr/>
        </p:nvSpPr>
        <p:spPr>
          <a:xfrm>
            <a:off x="2467535" y="487456"/>
            <a:ext cx="16358347" cy="108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799" b="0" i="0" u="none" strike="noStrike" cap="none" dirty="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Информационная система </a:t>
            </a:r>
            <a:endParaRPr dirty="0"/>
          </a:p>
        </p:txBody>
      </p:sp>
      <p:sp>
        <p:nvSpPr>
          <p:cNvPr id="107" name="Google Shape;107;p12"/>
          <p:cNvSpPr txBox="1"/>
          <p:nvPr/>
        </p:nvSpPr>
        <p:spPr>
          <a:xfrm>
            <a:off x="1028699" y="2595369"/>
            <a:ext cx="16560053" cy="7645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Комиссия на защите будет смотреть не на то, как красиво вы рассказали про теорию, а на то, что вы сделали руками. Ваша программа должна решать реальную проблему, автоматизировать рутину и, что самое главное, уметь работать с данными. А это значит — обязательно использовать базу данных.</a:t>
            </a:r>
          </a:p>
          <a:p>
            <a:pPr lvl="0">
              <a:lnSpc>
                <a:spcPct val="115000"/>
              </a:lnSpc>
            </a:pP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Автоматизация — это не просто "написать программу". Это перенос задач человека на компьютер, чтобы:</a:t>
            </a:r>
          </a:p>
          <a:p>
            <a:pPr lvl="0">
              <a:lnSpc>
                <a:spcPct val="115000"/>
              </a:lnSpc>
            </a:pPr>
            <a:r>
              <a:rPr lang="ru-RU" sz="2400" b="1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Уменьшить время на выполнение операции;</a:t>
            </a:r>
          </a:p>
          <a:p>
            <a:pPr lvl="0">
              <a:lnSpc>
                <a:spcPct val="115000"/>
              </a:lnSpc>
            </a:pPr>
            <a:r>
              <a:rPr lang="ru-RU" sz="2400" b="1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Снизить количество ошибок (человеческий фактор);</a:t>
            </a:r>
          </a:p>
          <a:p>
            <a:pPr lvl="0">
              <a:lnSpc>
                <a:spcPct val="115000"/>
              </a:lnSpc>
            </a:pPr>
            <a:r>
              <a:rPr lang="ru-RU" sz="2400" b="1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Упростить доступ к данным;</a:t>
            </a:r>
          </a:p>
          <a:p>
            <a:pPr lvl="0">
              <a:lnSpc>
                <a:spcPct val="115000"/>
              </a:lnSpc>
            </a:pPr>
            <a:r>
              <a:rPr lang="ru-RU" sz="2400" b="1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Ускорить принятие решений.</a:t>
            </a:r>
          </a:p>
          <a:p>
            <a:pPr lvl="0">
              <a:lnSpc>
                <a:spcPct val="115000"/>
              </a:lnSpc>
            </a:pP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Нет базы данных — нет информационной системы. Есть просто программа.</a:t>
            </a:r>
          </a:p>
          <a:p>
            <a:pPr lvl="0">
              <a:lnSpc>
                <a:spcPct val="115000"/>
              </a:lnSpc>
            </a:pP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Что должна делать ваша ИС с базой данных? Минимум — поддерживать четыре основные операции. В программировании это называют акронимом CRUD:</a:t>
            </a:r>
          </a:p>
          <a:p>
            <a:pPr lvl="0">
              <a:lnSpc>
                <a:spcPct val="115000"/>
              </a:lnSpc>
            </a:pP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C — </a:t>
            </a:r>
            <a:r>
              <a:rPr lang="ru-RU" sz="2400" dirty="0" err="1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Create</a:t>
            </a: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 (Создание). Пользователь должен иметь возможность добавить новую запись. Например, добавить нового клиента, новый заказ, новый товар на склад.</a:t>
            </a:r>
          </a:p>
          <a:p>
            <a:pPr lvl="0">
              <a:lnSpc>
                <a:spcPct val="115000"/>
              </a:lnSpc>
            </a:pP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R — </a:t>
            </a:r>
            <a:r>
              <a:rPr lang="ru-RU" sz="2400" dirty="0" err="1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Read</a:t>
            </a: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 (Чтение/Просмотр). Данные должны отображаться. Вы открываете список, и программа тянет их из базы.</a:t>
            </a:r>
          </a:p>
          <a:p>
            <a:pPr lvl="0">
              <a:lnSpc>
                <a:spcPct val="115000"/>
              </a:lnSpc>
            </a:pP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U — </a:t>
            </a:r>
            <a:r>
              <a:rPr lang="ru-RU" sz="2400" dirty="0" err="1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Update</a:t>
            </a: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 (Обновление). Данные должны меняться. У клиента сменился телефон? Мы должны иметь возможность это исправить.</a:t>
            </a:r>
          </a:p>
          <a:p>
            <a:pPr lvl="0">
              <a:lnSpc>
                <a:spcPct val="115000"/>
              </a:lnSpc>
            </a:pP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D — </a:t>
            </a:r>
            <a:r>
              <a:rPr lang="ru-RU" sz="2400" dirty="0" err="1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Delete</a:t>
            </a: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 (Удаление)." Запись устарела? Мы должны уметь её удалить (или пометить как удаленную, чтобы не засорять интерфейс).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42425" y="-1371850"/>
            <a:ext cx="13291150" cy="1329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45575" y="-1371850"/>
            <a:ext cx="13291150" cy="132911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1"/>
          <p:cNvSpPr txBox="1"/>
          <p:nvPr/>
        </p:nvSpPr>
        <p:spPr>
          <a:xfrm>
            <a:off x="2455143" y="3232207"/>
            <a:ext cx="13929991" cy="3822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none" strike="noStrike" cap="none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Но просто наличие базы данных мало. Доступ к БД должен быть постоянным,</a:t>
            </a: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 поэтому необходимо БД выгружать.</a:t>
            </a:r>
            <a:b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В случае, если ваша ИС – сайт, необходимо выгружать его на хостинге. </a:t>
            </a:r>
            <a:b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Для того, что бы не платить за хостинг ежемесячно, можно выгрузить за месяц до защиты. </a:t>
            </a:r>
            <a:b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Рекомендация: </a:t>
            </a:r>
            <a:r>
              <a:rPr lang="ru-RU" sz="2400" b="1" dirty="0" err="1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рег.ру</a:t>
            </a:r>
            <a:r>
              <a:rPr lang="ru-RU" sz="2400" b="1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За 130 рублей получаете домен и хостинг на месяц.</a:t>
            </a:r>
            <a:b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В случае, если десктопная система – по возможности БД выгрузить на сервер.</a:t>
            </a:r>
            <a:b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Та же история, с мобильным приложением. Но у мобилок тоже свое отличие – ИС необходимо транслировать через проектор, а не через сам телефон. Можно на распространенных платформах, это на усмотрение студента.</a:t>
            </a:r>
            <a:endParaRPr lang="ru-RU" sz="2400" i="0" u="none" strike="noStrike" cap="none" dirty="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45564" y="-1371862"/>
            <a:ext cx="13291150" cy="1329115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7"/>
          <p:cNvSpPr txBox="1"/>
          <p:nvPr/>
        </p:nvSpPr>
        <p:spPr>
          <a:xfrm>
            <a:off x="793376" y="1825628"/>
            <a:ext cx="16647459" cy="7397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ru-RU" sz="22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1. Титульный лист и задание</a:t>
            </a:r>
          </a:p>
          <a:p>
            <a:pPr lvl="0">
              <a:lnSpc>
                <a:spcPct val="115000"/>
              </a:lnSpc>
            </a:pPr>
            <a:r>
              <a:rPr lang="ru-RU" sz="22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2. Содержание — план вашей работы, по которому её будут оценивать.</a:t>
            </a:r>
          </a:p>
          <a:p>
            <a:pPr lvl="0">
              <a:lnSpc>
                <a:spcPct val="115000"/>
              </a:lnSpc>
            </a:pPr>
            <a:r>
              <a:rPr lang="ru-RU" sz="22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3. Введение (около 10% работы). Здесь вы должны ответить на ключевые вопросы:</a:t>
            </a:r>
          </a:p>
          <a:p>
            <a:pPr lvl="0">
              <a:lnSpc>
                <a:spcPct val="115000"/>
              </a:lnSpc>
            </a:pPr>
            <a:r>
              <a:rPr lang="ru-RU" sz="2200" b="1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Актуальность: </a:t>
            </a:r>
            <a:r>
              <a:rPr lang="ru-RU" sz="22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Почему эту тему важно изучать именно сейчас?</a:t>
            </a:r>
          </a:p>
          <a:p>
            <a:pPr lvl="0">
              <a:lnSpc>
                <a:spcPct val="115000"/>
              </a:lnSpc>
            </a:pPr>
            <a:r>
              <a:rPr lang="ru-RU" sz="2200" b="1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Объект и предмет: </a:t>
            </a:r>
            <a:r>
              <a:rPr lang="ru-RU" sz="22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Объект — это широкая область (например, "деятельность колледжа"), а предмет — то, на что вы конкретно смотрите ("автоматизация учета успеваемости").</a:t>
            </a:r>
          </a:p>
          <a:p>
            <a:pPr lvl="0">
              <a:lnSpc>
                <a:spcPct val="115000"/>
              </a:lnSpc>
            </a:pPr>
            <a:r>
              <a:rPr lang="ru-RU" sz="2200" b="1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Цель и задачи: </a:t>
            </a:r>
            <a:r>
              <a:rPr lang="ru-RU" sz="22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Цель — одна (например, "разработать информационную систему"), задач — несколько (рассмотреть, проанализировать, спроектировать, протестировать). Задачи будут соответствовать главам вашей работы.</a:t>
            </a:r>
          </a:p>
          <a:p>
            <a:pPr lvl="0">
              <a:lnSpc>
                <a:spcPct val="115000"/>
              </a:lnSpc>
            </a:pPr>
            <a:r>
              <a:rPr lang="ru-RU" sz="22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Основная часть (как правило, 3 главы).</a:t>
            </a:r>
          </a:p>
          <a:p>
            <a:pPr lvl="0">
              <a:lnSpc>
                <a:spcPct val="115000"/>
              </a:lnSpc>
            </a:pPr>
            <a:r>
              <a:rPr lang="ru-RU" sz="22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Глава 1 (Теория): Анализ предметной области, обзор существующих решений, обоснование выбора технологий. Здесь оценивается ваша эрудиция.</a:t>
            </a:r>
          </a:p>
          <a:p>
            <a:pPr lvl="0">
              <a:lnSpc>
                <a:spcPct val="115000"/>
              </a:lnSpc>
            </a:pPr>
            <a:r>
              <a:rPr lang="ru-RU" sz="22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Глава 2 (Проектирование): Описание того, как вы строите систему. Сюда входят схемы баз данных, выбор языка программирования, архитектура приложения.</a:t>
            </a:r>
          </a:p>
          <a:p>
            <a:pPr lvl="0">
              <a:lnSpc>
                <a:spcPct val="115000"/>
              </a:lnSpc>
            </a:pPr>
            <a:r>
              <a:rPr lang="ru-RU" sz="22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Глава 3 (Практика): Непосредственно создание продукта, интерфейса, тестирование и инструкция для пользователя.</a:t>
            </a:r>
          </a:p>
          <a:p>
            <a:pPr lvl="0">
              <a:lnSpc>
                <a:spcPct val="115000"/>
              </a:lnSpc>
            </a:pPr>
            <a:r>
              <a:rPr lang="ru-RU" sz="22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Заключение. Кратко и по делу: что вы сделали, какие выводы получили, достигли ли цели, поставленной во введении.</a:t>
            </a:r>
          </a:p>
          <a:p>
            <a:pPr lvl="0">
              <a:lnSpc>
                <a:spcPct val="115000"/>
              </a:lnSpc>
            </a:pPr>
            <a:r>
              <a:rPr lang="ru-RU" sz="22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Список литературы (не менее 30 источников). И, что важно, в приложении обязательно должен быть код вашего программного продукта!</a:t>
            </a:r>
          </a:p>
          <a:p>
            <a:pPr lvl="0">
              <a:lnSpc>
                <a:spcPct val="115000"/>
              </a:lnSpc>
            </a:pPr>
            <a:endParaRPr lang="ru-RU" sz="2200" dirty="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lvl="0">
              <a:lnSpc>
                <a:spcPct val="115000"/>
              </a:lnSpc>
            </a:pPr>
            <a:r>
              <a:rPr lang="ru-RU" sz="22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Графическая часть. Это ваши схемы (структура БД, работа программы) на листах А4, которые вы будете показывать на защите.»</a:t>
            </a:r>
            <a:endParaRPr sz="2200" dirty="0"/>
          </a:p>
        </p:txBody>
      </p:sp>
      <p:sp>
        <p:nvSpPr>
          <p:cNvPr id="50" name="Google Shape;50;p7"/>
          <p:cNvSpPr txBox="1"/>
          <p:nvPr/>
        </p:nvSpPr>
        <p:spPr>
          <a:xfrm>
            <a:off x="976383" y="247817"/>
            <a:ext cx="15617288" cy="1280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400" b="0" i="0" u="none" strike="noStrike" cap="none" dirty="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Пояснительная записка</a:t>
            </a:r>
            <a:endParaRPr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518278" y="849192"/>
            <a:ext cx="16361325" cy="163613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9"/>
          <p:cNvSpPr txBox="1"/>
          <p:nvPr/>
        </p:nvSpPr>
        <p:spPr>
          <a:xfrm>
            <a:off x="2047114" y="1138650"/>
            <a:ext cx="15591865" cy="108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799" b="0" i="0" u="none" strike="noStrike" cap="none" dirty="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Требования к оформлению</a:t>
            </a:r>
            <a:endParaRPr dirty="0"/>
          </a:p>
        </p:txBody>
      </p:sp>
      <p:sp>
        <p:nvSpPr>
          <p:cNvPr id="73" name="Google Shape;73;p9"/>
          <p:cNvSpPr txBox="1"/>
          <p:nvPr/>
        </p:nvSpPr>
        <p:spPr>
          <a:xfrm>
            <a:off x="2313217" y="3594599"/>
            <a:ext cx="12989535" cy="4247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18160" lvl="1" indent="-259079">
              <a:lnSpc>
                <a:spcPct val="115000"/>
              </a:lnSpc>
              <a:buClr>
                <a:srgbClr val="1F1F1F"/>
              </a:buClr>
              <a:buSzPts val="2400"/>
              <a:buFont typeface="Arial"/>
              <a:buChar char="•"/>
            </a:pP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Вся работа должна быть выполнена по стандарту. Отдельное методическое пособие по оформлению прикреплено.</a:t>
            </a:r>
          </a:p>
          <a:p>
            <a:pPr marL="518160" lvl="1" indent="-259079">
              <a:lnSpc>
                <a:spcPct val="115000"/>
              </a:lnSpc>
              <a:buClr>
                <a:srgbClr val="1F1F1F"/>
              </a:buClr>
              <a:buSzPts val="2400"/>
              <a:buFont typeface="Arial"/>
              <a:buChar char="•"/>
            </a:pPr>
            <a:endParaRPr lang="ru-RU" sz="2400" dirty="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518160" lvl="1" indent="-259079">
              <a:lnSpc>
                <a:spcPct val="115000"/>
              </a:lnSpc>
              <a:buClr>
                <a:srgbClr val="1F1F1F"/>
              </a:buClr>
              <a:buSzPts val="2400"/>
              <a:buFont typeface="Arial"/>
              <a:buChar char="•"/>
            </a:pP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Страницы нумеруются, титульный лист не нумеруется, но считается.</a:t>
            </a:r>
          </a:p>
          <a:p>
            <a:pPr marL="518160" lvl="1" indent="-259079">
              <a:lnSpc>
                <a:spcPct val="115000"/>
              </a:lnSpc>
              <a:buClr>
                <a:srgbClr val="1F1F1F"/>
              </a:buClr>
              <a:buSzPts val="2400"/>
              <a:buFont typeface="Arial"/>
              <a:buChar char="•"/>
            </a:pPr>
            <a:endParaRPr lang="ru-RU" sz="2400" dirty="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518160" lvl="1" indent="-259079">
              <a:lnSpc>
                <a:spcPct val="115000"/>
              </a:lnSpc>
              <a:buClr>
                <a:srgbClr val="1F1F1F"/>
              </a:buClr>
              <a:buSzPts val="2400"/>
              <a:buFont typeface="Arial"/>
              <a:buChar char="•"/>
            </a:pP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Все главы и параграфы должны быть логично связаны, название параграфа не должно повторять название главы.</a:t>
            </a:r>
          </a:p>
          <a:p>
            <a:pPr marL="518160" lvl="1" indent="-259079">
              <a:lnSpc>
                <a:spcPct val="115000"/>
              </a:lnSpc>
              <a:buClr>
                <a:srgbClr val="1F1F1F"/>
              </a:buClr>
              <a:buSzPts val="2400"/>
              <a:buFont typeface="Arial"/>
              <a:buChar char="•"/>
            </a:pPr>
            <a:endParaRPr lang="ru-RU" sz="2400" dirty="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518160" lvl="1" indent="-259079">
              <a:lnSpc>
                <a:spcPct val="115000"/>
              </a:lnSpc>
              <a:buClr>
                <a:srgbClr val="1F1F1F"/>
              </a:buClr>
              <a:buSzPts val="2400"/>
              <a:buFont typeface="Arial"/>
              <a:buChar char="•"/>
            </a:pP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Не пытайтесь просто скопировать текст из интернета. Работа должна быть самостоятельной. </a:t>
            </a:r>
            <a:endParaRPr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57828" y="-399351"/>
            <a:ext cx="11085701" cy="110857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5402634" y="343175"/>
            <a:ext cx="9463200" cy="10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799" b="0" i="0" u="none" strike="noStrike" cap="none" dirty="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Презентация</a:t>
            </a:r>
            <a:endParaRPr dirty="0"/>
          </a:p>
        </p:txBody>
      </p:sp>
      <p:sp>
        <p:nvSpPr>
          <p:cNvPr id="132" name="Google Shape;132;p15"/>
          <p:cNvSpPr txBox="1"/>
          <p:nvPr/>
        </p:nvSpPr>
        <p:spPr>
          <a:xfrm>
            <a:off x="2363599" y="1875644"/>
            <a:ext cx="15736142" cy="679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ru-RU" sz="2400" b="1" i="1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Слайд 1</a:t>
            </a: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: Цели и задачи / Проблематика проекта</a:t>
            </a:r>
          </a:p>
          <a:p>
            <a:pPr lvl="0">
              <a:lnSpc>
                <a:spcPct val="115000"/>
              </a:lnSpc>
            </a:pP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Что размещаем:</a:t>
            </a:r>
          </a:p>
          <a:p>
            <a:pPr lvl="0">
              <a:lnSpc>
                <a:spcPct val="115000"/>
              </a:lnSpc>
            </a:pPr>
            <a:endParaRPr lang="ru-RU" sz="2400" dirty="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lvl="0">
              <a:lnSpc>
                <a:spcPct val="115000"/>
              </a:lnSpc>
            </a:pPr>
            <a:r>
              <a:rPr lang="ru-RU" sz="2400" b="1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Актуальность</a:t>
            </a: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 (2-3 предложения: почему это важно делать именно сейчас).</a:t>
            </a:r>
          </a:p>
          <a:p>
            <a:pPr lvl="0">
              <a:lnSpc>
                <a:spcPct val="115000"/>
              </a:lnSpc>
            </a:pPr>
            <a:r>
              <a:rPr lang="ru-RU" sz="2400" b="1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Цель работы </a:t>
            </a: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(одна, четкая: "Разработка информационной системы для...").</a:t>
            </a:r>
          </a:p>
          <a:p>
            <a:pPr lvl="0">
              <a:lnSpc>
                <a:spcPct val="115000"/>
              </a:lnSpc>
            </a:pPr>
            <a:r>
              <a:rPr lang="ru-RU" sz="2400" b="1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Задачи</a:t>
            </a: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 (список из 4–6 пунктов: проанализировать, спроектировать, разработать, протестировать).</a:t>
            </a:r>
          </a:p>
          <a:p>
            <a:pPr lvl="0">
              <a:lnSpc>
                <a:spcPct val="115000"/>
              </a:lnSpc>
            </a:pPr>
            <a:endParaRPr lang="ru-RU" sz="2400" dirty="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lvl="0">
              <a:lnSpc>
                <a:spcPct val="115000"/>
              </a:lnSpc>
            </a:pPr>
            <a:r>
              <a:rPr lang="ru-RU" sz="2400" b="1" i="1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Слайд 2</a:t>
            </a: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: Организационная структура</a:t>
            </a:r>
          </a:p>
          <a:p>
            <a:pPr lvl="0">
              <a:lnSpc>
                <a:spcPct val="115000"/>
              </a:lnSpc>
            </a:pP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Что размещаем:</a:t>
            </a:r>
          </a:p>
          <a:p>
            <a:pPr lvl="0">
              <a:lnSpc>
                <a:spcPct val="115000"/>
              </a:lnSpc>
            </a:pP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Схему, показывающую структуру предприятия или отдела, для которого делается система.</a:t>
            </a:r>
          </a:p>
          <a:p>
            <a:pPr lvl="0">
              <a:lnSpc>
                <a:spcPct val="115000"/>
              </a:lnSpc>
            </a:pP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Можно выделить цветом то подразделение (или ту должность), чью работу вы автоматизируете.</a:t>
            </a:r>
          </a:p>
          <a:p>
            <a:pPr lvl="0">
              <a:lnSpc>
                <a:spcPct val="115000"/>
              </a:lnSpc>
            </a:pPr>
            <a:endParaRPr lang="ru-RU" sz="2400" dirty="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lvl="0">
              <a:lnSpc>
                <a:spcPct val="115000"/>
              </a:lnSpc>
            </a:pPr>
            <a:r>
              <a:rPr lang="ru-RU" sz="2400" b="1" i="1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Слайд 3</a:t>
            </a: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: Диаграмма вариантов использования (</a:t>
            </a:r>
            <a:r>
              <a:rPr lang="ru-RU" sz="2400" dirty="0" err="1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Use</a:t>
            </a: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ru-RU" sz="2400" dirty="0" err="1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Case</a:t>
            </a: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)</a:t>
            </a:r>
          </a:p>
          <a:p>
            <a:pPr lvl="0">
              <a:lnSpc>
                <a:spcPct val="115000"/>
              </a:lnSpc>
            </a:pP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Что размещаем:</a:t>
            </a:r>
          </a:p>
          <a:p>
            <a:pPr lvl="0">
              <a:lnSpc>
                <a:spcPct val="115000"/>
              </a:lnSpc>
            </a:pPr>
            <a:r>
              <a:rPr lang="ru-RU" sz="2400" b="1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Схему,</a:t>
            </a: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 на которой показан "человечек" (</a:t>
            </a:r>
            <a:r>
              <a:rPr lang="ru-RU" sz="2400" dirty="0" err="1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актор</a:t>
            </a: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) и "облачка" (функции, которые он может выполнять в системе).</a:t>
            </a:r>
          </a:p>
          <a:p>
            <a:pPr lvl="0">
              <a:lnSpc>
                <a:spcPct val="115000"/>
              </a:lnSpc>
            </a:pPr>
            <a:r>
              <a:rPr lang="ru-RU" sz="2400" b="1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Функции должны быть реальными</a:t>
            </a: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: "Добавить заказ", "Посмотреть отчет", "Изменить данные".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57828" y="-399351"/>
            <a:ext cx="11085701" cy="110857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5402634" y="343175"/>
            <a:ext cx="9463200" cy="10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799" b="0" i="0" u="none" strike="noStrike" cap="none" dirty="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Презентация</a:t>
            </a:r>
            <a:endParaRPr dirty="0"/>
          </a:p>
        </p:txBody>
      </p:sp>
      <p:sp>
        <p:nvSpPr>
          <p:cNvPr id="132" name="Google Shape;132;p15"/>
          <p:cNvSpPr txBox="1"/>
          <p:nvPr/>
        </p:nvSpPr>
        <p:spPr>
          <a:xfrm>
            <a:off x="2363599" y="1875644"/>
            <a:ext cx="15736142" cy="8069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ru-RU" sz="2400" b="1" i="1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Слайд 4</a:t>
            </a: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: Диаграмма деятельности (</a:t>
            </a:r>
            <a:r>
              <a:rPr lang="ru-RU" sz="2400" dirty="0" err="1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Activity</a:t>
            </a: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ru-RU" sz="2400" dirty="0" err="1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Diagram</a:t>
            </a: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)</a:t>
            </a:r>
          </a:p>
          <a:p>
            <a:pPr lvl="0">
              <a:lnSpc>
                <a:spcPct val="115000"/>
              </a:lnSpc>
            </a:pP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Что размещаем:</a:t>
            </a:r>
          </a:p>
          <a:p>
            <a:pPr lvl="0">
              <a:lnSpc>
                <a:spcPct val="115000"/>
              </a:lnSpc>
            </a:pPr>
            <a:r>
              <a:rPr lang="ru-RU" sz="2400" b="1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Схему</a:t>
            </a: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, похожую на блок-схему, описывающую один конкретный процесс (например, "Оформление заказа").</a:t>
            </a:r>
          </a:p>
          <a:p>
            <a:pPr lvl="0">
              <a:lnSpc>
                <a:spcPct val="115000"/>
              </a:lnSpc>
            </a:pPr>
            <a:endParaRPr lang="ru-RU" sz="2400" dirty="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lvl="0">
              <a:lnSpc>
                <a:spcPct val="115000"/>
              </a:lnSpc>
            </a:pPr>
            <a:r>
              <a:rPr lang="ru-RU" sz="2400" b="1" i="1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Слайд 5: Диаграмма классов</a:t>
            </a:r>
          </a:p>
          <a:p>
            <a:pPr lvl="0">
              <a:lnSpc>
                <a:spcPct val="115000"/>
              </a:lnSpc>
            </a:pP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Что размещаем:</a:t>
            </a:r>
          </a:p>
          <a:p>
            <a:pPr lvl="0">
              <a:lnSpc>
                <a:spcPct val="115000"/>
              </a:lnSpc>
            </a:pPr>
            <a:r>
              <a:rPr lang="ru-RU" sz="2400" b="1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Схему, </a:t>
            </a: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показывающую структуру будущей программы с точки зрения ООП: классы, их атрибуты и методы.</a:t>
            </a:r>
          </a:p>
          <a:p>
            <a:pPr lvl="0">
              <a:lnSpc>
                <a:spcPct val="115000"/>
              </a:lnSpc>
            </a:pPr>
            <a:r>
              <a:rPr lang="ru-RU" sz="2400" b="1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Важно</a:t>
            </a: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: Не надо тащить 50 классов. Достаточно основных сущностей: "Клиент", "Заказ", "Товар" и связи между ними.</a:t>
            </a:r>
          </a:p>
          <a:p>
            <a:pPr lvl="0">
              <a:lnSpc>
                <a:spcPct val="115000"/>
              </a:lnSpc>
            </a:pPr>
            <a:endParaRPr lang="ru-RU" sz="2400" dirty="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lvl="0">
              <a:lnSpc>
                <a:spcPct val="115000"/>
              </a:lnSpc>
            </a:pPr>
            <a:r>
              <a:rPr lang="ru-RU" sz="2400" b="1" i="1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Слайд 6</a:t>
            </a: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: Структура базы данных (ER-диаграмма)</a:t>
            </a:r>
          </a:p>
          <a:p>
            <a:pPr lvl="0">
              <a:lnSpc>
                <a:spcPct val="115000"/>
              </a:lnSpc>
            </a:pP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Что размещаем:</a:t>
            </a:r>
          </a:p>
          <a:p>
            <a:pPr lvl="0">
              <a:lnSpc>
                <a:spcPct val="115000"/>
              </a:lnSpc>
            </a:pPr>
            <a:r>
              <a:rPr lang="ru-RU" sz="2400" b="1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Схему базы данных</a:t>
            </a: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: таблицы, поля, ключи, связи.</a:t>
            </a:r>
          </a:p>
          <a:p>
            <a:pPr lvl="0">
              <a:lnSpc>
                <a:spcPct val="115000"/>
              </a:lnSpc>
            </a:pPr>
            <a:endParaRPr lang="ru-RU" sz="2400" dirty="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lvl="0">
              <a:lnSpc>
                <a:spcPct val="115000"/>
              </a:lnSpc>
            </a:pPr>
            <a:r>
              <a:rPr lang="ru-RU" sz="2400" b="1" i="1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Слайд 7: </a:t>
            </a: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Программные средства для разработки</a:t>
            </a:r>
          </a:p>
          <a:p>
            <a:pPr lvl="0">
              <a:lnSpc>
                <a:spcPct val="115000"/>
              </a:lnSpc>
            </a:pP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Что размещаем:</a:t>
            </a:r>
          </a:p>
          <a:p>
            <a:pPr lvl="0">
              <a:lnSpc>
                <a:spcPct val="115000"/>
              </a:lnSpc>
            </a:pPr>
            <a:r>
              <a:rPr lang="ru-RU" sz="2400" b="1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Логотипы инструментов</a:t>
            </a: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: язык программирования, СУБД, среда разработки, фреймворки.</a:t>
            </a:r>
          </a:p>
          <a:p>
            <a:pPr lvl="0">
              <a:lnSpc>
                <a:spcPct val="115000"/>
              </a:lnSpc>
            </a:pP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И, как написано в шаблоне, обязательно </a:t>
            </a:r>
            <a:r>
              <a:rPr lang="ru-RU" sz="2400" b="1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короткое обоснование </a:t>
            </a: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(маркированный список из 2-3 пунктов к каждому инструменту).</a:t>
            </a:r>
          </a:p>
        </p:txBody>
      </p:sp>
    </p:spTree>
    <p:extLst>
      <p:ext uri="{BB962C8B-B14F-4D97-AF65-F5344CB8AC3E}">
        <p14:creationId xmlns:p14="http://schemas.microsoft.com/office/powerpoint/2010/main" val="2965059041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57828" y="-399351"/>
            <a:ext cx="11085701" cy="110857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6411163" y="504540"/>
            <a:ext cx="9463200" cy="10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799" b="0" i="0" u="none" strike="noStrike" cap="none" dirty="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Презентация</a:t>
            </a:r>
            <a:endParaRPr dirty="0"/>
          </a:p>
        </p:txBody>
      </p:sp>
      <p:sp>
        <p:nvSpPr>
          <p:cNvPr id="132" name="Google Shape;132;p15"/>
          <p:cNvSpPr txBox="1"/>
          <p:nvPr/>
        </p:nvSpPr>
        <p:spPr>
          <a:xfrm>
            <a:off x="1627094" y="1875644"/>
            <a:ext cx="16472647" cy="722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ru-RU" sz="2400" b="1" i="1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Слайд 8: </a:t>
            </a: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Достоинства и перспективы развития</a:t>
            </a:r>
          </a:p>
          <a:p>
            <a:pPr lvl="0">
              <a:lnSpc>
                <a:spcPct val="115000"/>
              </a:lnSpc>
            </a:pP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Что размещаем:</a:t>
            </a:r>
          </a:p>
          <a:p>
            <a:pPr lvl="0">
              <a:lnSpc>
                <a:spcPct val="115000"/>
              </a:lnSpc>
            </a:pPr>
            <a:r>
              <a:rPr lang="ru-RU" sz="2400" b="1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Достоинства: </a:t>
            </a: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Что конкретно улучшила ваша программа (скорость работы, удобство, надежность).</a:t>
            </a:r>
          </a:p>
          <a:p>
            <a:pPr lvl="0">
              <a:lnSpc>
                <a:spcPct val="115000"/>
              </a:lnSpc>
            </a:pPr>
            <a:r>
              <a:rPr lang="ru-RU" sz="2400" b="1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Перспективы: </a:t>
            </a: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Что можно добавить потом (веб-версия, мобильное приложение, новые отчеты).</a:t>
            </a:r>
          </a:p>
          <a:p>
            <a:pPr lvl="0">
              <a:lnSpc>
                <a:spcPct val="115000"/>
              </a:lnSpc>
            </a:pPr>
            <a:endParaRPr lang="ru-RU" sz="2400" dirty="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lvl="0" algn="ctr">
              <a:lnSpc>
                <a:spcPct val="115000"/>
              </a:lnSpc>
            </a:pPr>
            <a:r>
              <a:rPr lang="ru-RU" sz="2400" b="1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Правила хорошей презентации:</a:t>
            </a:r>
          </a:p>
          <a:p>
            <a:pPr lvl="0" algn="ctr">
              <a:lnSpc>
                <a:spcPct val="115000"/>
              </a:lnSpc>
            </a:pPr>
            <a:endParaRPr lang="ru-RU" sz="2400" b="1" dirty="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lvl="0" algn="ctr">
              <a:lnSpc>
                <a:spcPct val="115000"/>
              </a:lnSpc>
            </a:pP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1. </a:t>
            </a:r>
            <a:r>
              <a:rPr lang="ru-RU" sz="2400" dirty="0" err="1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Тезисность</a:t>
            </a: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. На слайдах — минимум текста. Только схемы, графики, ключевые слова. Весь текст — в вашей речи.</a:t>
            </a:r>
          </a:p>
          <a:p>
            <a:pPr lvl="0" algn="ctr">
              <a:lnSpc>
                <a:spcPct val="115000"/>
              </a:lnSpc>
            </a:pPr>
            <a:endParaRPr lang="ru-RU" sz="2400" dirty="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lvl="0" algn="ctr">
              <a:lnSpc>
                <a:spcPct val="115000"/>
              </a:lnSpc>
            </a:pP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2. Единообразие. Все схемы должны быть выполнены в одном стиле (одинаковые блоки, шрифты, цвета).</a:t>
            </a:r>
          </a:p>
          <a:p>
            <a:pPr lvl="0" algn="ctr">
              <a:lnSpc>
                <a:spcPct val="115000"/>
              </a:lnSpc>
            </a:pPr>
            <a:endParaRPr lang="ru-RU" sz="2400" dirty="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lvl="0" algn="ctr">
              <a:lnSpc>
                <a:spcPct val="115000"/>
              </a:lnSpc>
            </a:pP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3. Читаемость. Шрифт должен быть крупным. Комиссия сидит в конце зала, они должны видеть цифры на схемах.</a:t>
            </a:r>
          </a:p>
          <a:p>
            <a:pPr lvl="0" algn="ctr">
              <a:lnSpc>
                <a:spcPct val="115000"/>
              </a:lnSpc>
            </a:pPr>
            <a:endParaRPr lang="ru-RU" sz="2400" dirty="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lvl="0" algn="ctr">
              <a:lnSpc>
                <a:spcPct val="115000"/>
              </a:lnSpc>
            </a:pP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4. Связка "Слайд-Речь". Не читайте то, что написано на слайде! Комиссия умеет читать сами. Ваша задача — пояснять, комментировать, делать акценты. Когда появляется схема БД — вы не говорите "Вот схема БД". Вы говорите "Здесь мы видим, что таблица Заказы связана с таблицей Клиенты через идентификатор клиента, что обеспечивает..." — то есть вы объясняете суть связи.</a:t>
            </a:r>
          </a:p>
        </p:txBody>
      </p:sp>
    </p:spTree>
    <p:extLst>
      <p:ext uri="{BB962C8B-B14F-4D97-AF65-F5344CB8AC3E}">
        <p14:creationId xmlns:p14="http://schemas.microsoft.com/office/powerpoint/2010/main" val="968746744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34875" y="7500613"/>
            <a:ext cx="6706225" cy="670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3"/>
          <p:cNvSpPr txBox="1"/>
          <p:nvPr/>
        </p:nvSpPr>
        <p:spPr>
          <a:xfrm>
            <a:off x="2198069" y="369006"/>
            <a:ext cx="13891862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80000"/>
              </a:lnSpc>
            </a:pPr>
            <a:r>
              <a:rPr lang="ru-RU" sz="5400" dirty="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Предзащита, защита и критерии оценки</a:t>
            </a:r>
            <a:endParaRPr sz="900" dirty="0"/>
          </a:p>
        </p:txBody>
      </p:sp>
      <p:sp>
        <p:nvSpPr>
          <p:cNvPr id="116" name="Google Shape;116;p13"/>
          <p:cNvSpPr txBox="1"/>
          <p:nvPr/>
        </p:nvSpPr>
        <p:spPr>
          <a:xfrm>
            <a:off x="1334358" y="1700866"/>
            <a:ext cx="15619284" cy="8069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Предзащита. За 2 недели до основного дня вы показываете черновик комиссии. Это генеральная репетиция. Вас покритикуют, укажут на ошибки. Обижаться не надо — это шанс всё исправить до главного события.</a:t>
            </a:r>
          </a:p>
          <a:p>
            <a:pPr lvl="0">
              <a:lnSpc>
                <a:spcPct val="115000"/>
              </a:lnSpc>
            </a:pPr>
            <a:endParaRPr lang="ru-RU" sz="2400" dirty="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lvl="0">
              <a:lnSpc>
                <a:spcPct val="115000"/>
              </a:lnSpc>
            </a:pP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Сдача работы. За 2 недели до защиты вы сдаете готовую работу заведующей, получаете отзыв у руководителя и подпись.</a:t>
            </a:r>
          </a:p>
          <a:p>
            <a:pPr lvl="0">
              <a:lnSpc>
                <a:spcPct val="115000"/>
              </a:lnSpc>
            </a:pPr>
            <a:endParaRPr lang="ru-RU" sz="2400" dirty="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lvl="0">
              <a:lnSpc>
                <a:spcPct val="115000"/>
              </a:lnSpc>
            </a:pP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Защита. У вас будет 7–10 минут на доклад. Рассказываете актуальность, цель, что сделали, показываете презентацию и демонстрацию программы. Главное правило: доклад рассказываем, а не читаем с листа! После доклада отвечаем на вопросы комиссии.</a:t>
            </a:r>
          </a:p>
          <a:p>
            <a:pPr lvl="0">
              <a:lnSpc>
                <a:spcPct val="115000"/>
              </a:lnSpc>
            </a:pPr>
            <a:endParaRPr lang="ru-RU" sz="2400" dirty="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lvl="0">
              <a:lnSpc>
                <a:spcPct val="115000"/>
              </a:lnSpc>
            </a:pP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Как будут оценивать?</a:t>
            </a:r>
          </a:p>
          <a:p>
            <a:pPr lvl="0">
              <a:lnSpc>
                <a:spcPct val="115000"/>
              </a:lnSpc>
            </a:pP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В работе две таблицы критериев. Комиссия смотрит на:</a:t>
            </a:r>
          </a:p>
          <a:p>
            <a:pPr lvl="0">
              <a:lnSpc>
                <a:spcPct val="115000"/>
              </a:lnSpc>
            </a:pPr>
            <a:r>
              <a:rPr lang="ru-RU" sz="2400" b="1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Актуальность и логику</a:t>
            </a: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. Насколько грамотно вы обосновали свою тему.</a:t>
            </a:r>
          </a:p>
          <a:p>
            <a:pPr lvl="0">
              <a:lnSpc>
                <a:spcPct val="115000"/>
              </a:lnSpc>
            </a:pPr>
            <a:r>
              <a:rPr lang="ru-RU" sz="2400" b="1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Самостоятельность</a:t>
            </a: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. Ваши выводы, ваше мнение.</a:t>
            </a:r>
          </a:p>
          <a:p>
            <a:pPr lvl="0">
              <a:lnSpc>
                <a:spcPct val="115000"/>
              </a:lnSpc>
            </a:pPr>
            <a:r>
              <a:rPr lang="ru-RU" sz="2400" b="1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Практическую часть</a:t>
            </a: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. Работает ли программа? Завершена ли она?</a:t>
            </a:r>
          </a:p>
          <a:p>
            <a:pPr lvl="0">
              <a:lnSpc>
                <a:spcPct val="115000"/>
              </a:lnSpc>
            </a:pPr>
            <a:r>
              <a:rPr lang="ru-RU" sz="2400" b="1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Оформление</a:t>
            </a: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. Всё ли красиво и по ГОСТу.</a:t>
            </a:r>
          </a:p>
          <a:p>
            <a:pPr lvl="0">
              <a:lnSpc>
                <a:spcPct val="115000"/>
              </a:lnSpc>
            </a:pPr>
            <a:r>
              <a:rPr lang="ru-RU" sz="2400" b="1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Защиту</a:t>
            </a: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. Как вы отвечали на вопросы.</a:t>
            </a:r>
          </a:p>
          <a:p>
            <a:pPr lvl="0">
              <a:lnSpc>
                <a:spcPct val="115000"/>
              </a:lnSpc>
            </a:pPr>
            <a:r>
              <a:rPr lang="ru-RU" sz="24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Оценки "отлично" и "хорошо" ставятся за логичную, самостоятельную, хорошо оформленную работу с рабочим приложением и уверенную защиту.</a:t>
            </a:r>
            <a:endParaRPr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Minimalist Clean Resu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1349</Words>
  <Application>Microsoft Office PowerPoint</Application>
  <PresentationFormat>Произвольный</PresentationFormat>
  <Paragraphs>107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DM Serif Display</vt:lpstr>
      <vt:lpstr>DM Sans</vt:lpstr>
      <vt:lpstr>Arial</vt:lpstr>
      <vt:lpstr>Calibri</vt:lpstr>
      <vt:lpstr>Minimalist Clean Resume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DeniYouGo</dc:creator>
  <cp:lastModifiedBy>DeniYouGo</cp:lastModifiedBy>
  <cp:revision>6</cp:revision>
  <dcterms:modified xsi:type="dcterms:W3CDTF">2026-02-19T17:52:02Z</dcterms:modified>
</cp:coreProperties>
</file>